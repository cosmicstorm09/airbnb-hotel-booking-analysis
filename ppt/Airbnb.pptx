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43" r:id="rId10"/>
    <p:sldId id="339" r:id="rId11"/>
    <p:sldId id="342" r:id="rId12"/>
    <p:sldId id="341" r:id="rId13"/>
    <p:sldId id="340"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47" d="100"/>
          <a:sy n="47" d="100"/>
        </p:scale>
        <p:origin x="53" y="8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10/9/2025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10/9/2025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CosmicStorm09/VOIS_AICTE_Oct2025_Harsh"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049929" y="4647064"/>
            <a:ext cx="6466114" cy="1978883"/>
          </a:xfrm>
        </p:spPr>
        <p:txBody>
          <a:bodyPr>
            <a:normAutofit/>
          </a:bodyPr>
          <a:lstStyle/>
          <a:p>
            <a:pPr algn="r"/>
            <a:r>
              <a:rPr lang="en-US" dirty="0">
                <a:solidFill>
                  <a:schemeClr val="tx1"/>
                </a:solidFill>
              </a:rPr>
              <a:t>Harsh More</a:t>
            </a:r>
            <a:br>
              <a:rPr lang="en-US" dirty="0">
                <a:solidFill>
                  <a:schemeClr val="tx1"/>
                </a:solidFill>
              </a:rPr>
            </a:br>
            <a:r>
              <a:rPr lang="en-US" dirty="0" err="1">
                <a:solidFill>
                  <a:schemeClr val="tx1"/>
                </a:solidFill>
              </a:rPr>
              <a:t>B.Tech</a:t>
            </a:r>
            <a:r>
              <a:rPr lang="en-US" dirty="0">
                <a:solidFill>
                  <a:schemeClr val="tx1"/>
                </a:solidFill>
              </a:rPr>
              <a:t> Mechanical</a:t>
            </a:r>
            <a:br>
              <a:rPr lang="en-US" dirty="0">
                <a:solidFill>
                  <a:schemeClr val="tx1"/>
                </a:solidFill>
              </a:rPr>
            </a:br>
            <a:r>
              <a:rPr lang="en-US" dirty="0">
                <a:solidFill>
                  <a:schemeClr val="tx1"/>
                </a:solidFill>
              </a:rPr>
              <a:t>MIT Manipal</a:t>
            </a:r>
          </a:p>
          <a:p>
            <a:pPr algn="r"/>
            <a:r>
              <a:rPr lang="en-IN" dirty="0">
                <a:solidFill>
                  <a:schemeClr val="tx1"/>
                </a:solidFill>
              </a:rPr>
              <a:t>AICTE ID - STU682d64896b6471747805321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0506" y="2716001"/>
            <a:ext cx="9890449" cy="1378447"/>
          </a:xfrm>
        </p:spPr>
        <p:txBody>
          <a:bodyPr>
            <a:noAutofit/>
          </a:bodyPr>
          <a:lstStyle/>
          <a:p>
            <a:r>
              <a:rPr lang="en-IN" sz="8000" dirty="0"/>
              <a:t>AirBNB Hotel Booking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5" name="Picture 4">
            <a:extLst>
              <a:ext uri="{FF2B5EF4-FFF2-40B4-BE49-F238E27FC236}">
                <a16:creationId xmlns:a16="http://schemas.microsoft.com/office/drawing/2014/main" id="{49EC76B5-7221-97FA-DC51-D012492F85AD}"/>
              </a:ext>
            </a:extLst>
          </p:cNvPr>
          <p:cNvPicPr>
            <a:picLocks noChangeAspect="1"/>
          </p:cNvPicPr>
          <p:nvPr/>
        </p:nvPicPr>
        <p:blipFill>
          <a:blip r:embed="rId3"/>
          <a:stretch>
            <a:fillRect/>
          </a:stretch>
        </p:blipFill>
        <p:spPr>
          <a:xfrm>
            <a:off x="205273" y="0"/>
            <a:ext cx="8584164" cy="1024377"/>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92500"/>
          </a:bodyPr>
          <a:lstStyle/>
          <a:p>
            <a:pPr marL="0" indent="0">
              <a:lnSpc>
                <a:spcPct val="150000"/>
              </a:lnSpc>
              <a:buNone/>
            </a:pPr>
            <a:r>
              <a:rPr lang="en-US" sz="2800" dirty="0" err="1"/>
              <a:t>AirBNB</a:t>
            </a:r>
            <a:r>
              <a:rPr lang="en-US" sz="2800" dirty="0"/>
              <a:t> has a lot of data about hotel bookings. The goal is to find simple patterns—like what affects the price, which areas are popular, and what guests like most—by looking at the data with Python and charts.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Objective and Scope</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800" b="0" dirty="0"/>
              <a:t>I checked the </a:t>
            </a:r>
            <a:r>
              <a:rPr lang="en-US" sz="2800" b="0" dirty="0" err="1"/>
              <a:t>AirBNB</a:t>
            </a:r>
            <a:r>
              <a:rPr lang="en-US" sz="2800" b="0" dirty="0"/>
              <a:t> booking dataset using Python. First, I cleaned the messy data and then made some graphs. These helped me understand things like which neighborhoods and room types have more bookings, which prices are common, and what makes a listing popular. I wrote my code in VSC and made it easy for others to follow.</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 ?</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345F3CC5-A5FE-FEF1-4F28-C86EED180E05}"/>
              </a:ext>
            </a:extLst>
          </p:cNvPr>
          <p:cNvSpPr>
            <a:spLocks noGrp="1" noChangeArrowheads="1"/>
          </p:cNvSpPr>
          <p:nvPr>
            <p:ph type="body" sz="quarter" idx="12"/>
          </p:nvPr>
        </p:nvSpPr>
        <p:spPr bwMode="auto">
          <a:xfrm>
            <a:off x="720725" y="2401164"/>
            <a:ext cx="879649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People who work with data and want to find patterns in hotel bookings.</a:t>
            </a:r>
            <a:br>
              <a:rPr kumimoji="0" lang="en-US" altLang="en-US" sz="2500" b="0" i="0" u="none" strike="noStrike" cap="none" normalizeH="0" baseline="0" dirty="0">
                <a:ln>
                  <a:noFill/>
                </a:ln>
                <a:solidFill>
                  <a:schemeClr val="tx1"/>
                </a:solidFill>
                <a:effectLst/>
                <a:latin typeface="+mj-lt"/>
              </a:rPr>
            </a:br>
            <a:endParaRPr kumimoji="0" lang="en-US" altLang="en-US" sz="25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Travel companies who wish to know where guests prefer to stay and how much they pay.</a:t>
            </a:r>
            <a:br>
              <a:rPr kumimoji="0" lang="en-US" altLang="en-US" sz="2500" b="0" i="0" u="none" strike="noStrike" cap="none" normalizeH="0" baseline="0" dirty="0">
                <a:ln>
                  <a:noFill/>
                </a:ln>
                <a:solidFill>
                  <a:schemeClr val="tx1"/>
                </a:solidFill>
                <a:effectLst/>
                <a:latin typeface="+mj-lt"/>
              </a:rPr>
            </a:br>
            <a:endParaRPr kumimoji="0" lang="en-US" altLang="en-US" sz="25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Hotel managers trying to improve their services and change prices based on booking trends.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6BB3873D-4C62-C23F-9E04-64C5E002773B}"/>
              </a:ext>
            </a:extLst>
          </p:cNvPr>
          <p:cNvSpPr>
            <a:spLocks noGrp="1" noChangeArrowheads="1"/>
          </p:cNvSpPr>
          <p:nvPr>
            <p:ph type="body" sz="quarter" idx="12"/>
          </p:nvPr>
        </p:nvSpPr>
        <p:spPr bwMode="auto">
          <a:xfrm>
            <a:off x="315880" y="1680593"/>
            <a:ext cx="9341304"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Used Python programming because it is great for working with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Used the Pandas tool to clean data and make calculations.</a:t>
            </a:r>
            <a:endParaRPr lang="en-US" altLang="en-US" sz="25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Used the Matplotlib for graphical visuals.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Made all my code and graphs in VS Code for better visuals.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FB85D7A-2D8B-1989-7C23-E7D9E87E090B}"/>
              </a:ext>
            </a:extLst>
          </p:cNvPr>
          <p:cNvSpPr>
            <a:spLocks noGrp="1"/>
          </p:cNvSpPr>
          <p:nvPr>
            <p:ph type="pic" sz="quarter" idx="10"/>
          </p:nvPr>
        </p:nvSpPr>
        <p:spPr/>
      </p:sp>
      <p:sp>
        <p:nvSpPr>
          <p:cNvPr id="3" name="Text Placeholder 2">
            <a:extLst>
              <a:ext uri="{FF2B5EF4-FFF2-40B4-BE49-F238E27FC236}">
                <a16:creationId xmlns:a16="http://schemas.microsoft.com/office/drawing/2014/main" id="{EF49E9E4-6726-9C0B-DCEF-83E2E33920A3}"/>
              </a:ext>
            </a:extLst>
          </p:cNvPr>
          <p:cNvSpPr>
            <a:spLocks noGrp="1"/>
          </p:cNvSpPr>
          <p:nvPr>
            <p:ph type="body" sz="quarter" idx="12"/>
          </p:nvPr>
        </p:nvSpPr>
        <p:spPr/>
        <p:txBody>
          <a:bodyPr/>
          <a:lstStyle/>
          <a:p>
            <a:endParaRPr lang="en-IN"/>
          </a:p>
        </p:txBody>
      </p:sp>
      <p:sp>
        <p:nvSpPr>
          <p:cNvPr id="4" name="Title 3">
            <a:extLst>
              <a:ext uri="{FF2B5EF4-FFF2-40B4-BE49-F238E27FC236}">
                <a16:creationId xmlns:a16="http://schemas.microsoft.com/office/drawing/2014/main" id="{6965FE83-9F4B-0B1D-602E-6841C8B8154E}"/>
              </a:ext>
            </a:extLst>
          </p:cNvPr>
          <p:cNvSpPr>
            <a:spLocks noGrp="1"/>
          </p:cNvSpPr>
          <p:nvPr>
            <p:ph type="title"/>
          </p:nvPr>
        </p:nvSpPr>
        <p:spPr>
          <a:xfrm>
            <a:off x="278872" y="310993"/>
            <a:ext cx="5283200" cy="830997"/>
          </a:xfrm>
        </p:spPr>
        <p:txBody>
          <a:bodyPr>
            <a:normAutofit/>
          </a:bodyPr>
          <a:lstStyle/>
          <a:p>
            <a:r>
              <a:rPr lang="en-US" dirty="0"/>
              <a:t>Code and Snippet</a:t>
            </a:r>
            <a:endParaRPr lang="en-IN" dirty="0"/>
          </a:p>
        </p:txBody>
      </p:sp>
      <p:pic>
        <p:nvPicPr>
          <p:cNvPr id="8" name="Picture 7">
            <a:extLst>
              <a:ext uri="{FF2B5EF4-FFF2-40B4-BE49-F238E27FC236}">
                <a16:creationId xmlns:a16="http://schemas.microsoft.com/office/drawing/2014/main" id="{ACE22D4D-AA2A-6CAB-4CF2-5F7B4B30BBF8}"/>
              </a:ext>
            </a:extLst>
          </p:cNvPr>
          <p:cNvPicPr>
            <a:picLocks noChangeAspect="1"/>
          </p:cNvPicPr>
          <p:nvPr/>
        </p:nvPicPr>
        <p:blipFill>
          <a:blip r:embed="rId2"/>
          <a:stretch>
            <a:fillRect/>
          </a:stretch>
        </p:blipFill>
        <p:spPr>
          <a:xfrm>
            <a:off x="660400" y="1252537"/>
            <a:ext cx="10453898" cy="5605463"/>
          </a:xfrm>
          <a:prstGeom prst="rect">
            <a:avLst/>
          </a:prstGeom>
        </p:spPr>
      </p:pic>
    </p:spTree>
    <p:extLst>
      <p:ext uri="{BB962C8B-B14F-4D97-AF65-F5344CB8AC3E}">
        <p14:creationId xmlns:p14="http://schemas.microsoft.com/office/powerpoint/2010/main" val="1456112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err="1">
                <a:solidFill>
                  <a:srgbClr val="0070C0"/>
                </a:solidFill>
                <a:hlinkClick r:id="rId3"/>
              </a:rPr>
              <a:t>Github</a:t>
            </a:r>
            <a:r>
              <a:rPr lang="en-GB" sz="2000" b="0" u="sng" dirty="0">
                <a:solidFill>
                  <a:srgbClr val="0070C0"/>
                </a:solidFill>
                <a:hlinkClick r:id="rId3"/>
              </a:rPr>
              <a:t> Demo Link</a:t>
            </a:r>
            <a:endParaRPr lang="en-IN" b="0" u="sng" dirty="0">
              <a:solidFill>
                <a:srgbClr val="0070C0"/>
              </a:solidFill>
            </a:endParaRPr>
          </a:p>
        </p:txBody>
      </p:sp>
      <p:sp>
        <p:nvSpPr>
          <p:cNvPr id="2" name="Text Placeholder 1">
            <a:extLst>
              <a:ext uri="{FF2B5EF4-FFF2-40B4-BE49-F238E27FC236}">
                <a16:creationId xmlns:a16="http://schemas.microsoft.com/office/drawing/2014/main" id="{BE946D3C-940E-7CD2-A17D-BF90241F792F}"/>
              </a:ext>
            </a:extLst>
          </p:cNvPr>
          <p:cNvSpPr>
            <a:spLocks noGrp="1" noChangeArrowheads="1"/>
          </p:cNvSpPr>
          <p:nvPr>
            <p:ph type="body" sz="quarter" idx="12"/>
          </p:nvPr>
        </p:nvSpPr>
        <p:spPr bwMode="auto">
          <a:xfrm>
            <a:off x="545193" y="2027810"/>
            <a:ext cx="813227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The results showed that the place/location and type of room (entire home, private room) change the price a lot.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Places with good ratings and reviews are booked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Most guests like clean rooms and flexible booking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latin typeface="+mj-lt"/>
              </a:rPr>
              <a:t>The graphs helped see which areas and room types are most popular among travelers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6737B3-FEA0-3035-0E5B-E75FDB22EFE7}"/>
              </a:ext>
            </a:extLst>
          </p:cNvPr>
          <p:cNvSpPr>
            <a:spLocks noGrp="1"/>
          </p:cNvSpPr>
          <p:nvPr>
            <p:ph type="body" sz="quarter" idx="12"/>
          </p:nvPr>
        </p:nvSpPr>
        <p:spPr/>
        <p:txBody>
          <a:bodyPr/>
          <a:lstStyle/>
          <a:p>
            <a:endParaRPr lang="en-IN"/>
          </a:p>
        </p:txBody>
      </p:sp>
      <p:sp>
        <p:nvSpPr>
          <p:cNvPr id="3" name="Picture Placeholder 2">
            <a:extLst>
              <a:ext uri="{FF2B5EF4-FFF2-40B4-BE49-F238E27FC236}">
                <a16:creationId xmlns:a16="http://schemas.microsoft.com/office/drawing/2014/main" id="{97A63D4F-1637-0A9A-1CF2-D95B531F277B}"/>
              </a:ext>
            </a:extLst>
          </p:cNvPr>
          <p:cNvSpPr>
            <a:spLocks noGrp="1"/>
          </p:cNvSpPr>
          <p:nvPr>
            <p:ph type="pic" sz="quarter" idx="13"/>
          </p:nvPr>
        </p:nvSpPr>
        <p:spPr/>
        <p:txBody>
          <a:bodyPr/>
          <a:lstStyle/>
          <a:p>
            <a:endParaRPr lang="en-IN"/>
          </a:p>
        </p:txBody>
      </p:sp>
      <p:sp>
        <p:nvSpPr>
          <p:cNvPr id="4" name="Title 3">
            <a:extLst>
              <a:ext uri="{FF2B5EF4-FFF2-40B4-BE49-F238E27FC236}">
                <a16:creationId xmlns:a16="http://schemas.microsoft.com/office/drawing/2014/main" id="{560830E1-917D-52F5-8C36-9B68146B54C6}"/>
              </a:ext>
            </a:extLst>
          </p:cNvPr>
          <p:cNvSpPr>
            <a:spLocks noGrp="1"/>
          </p:cNvSpPr>
          <p:nvPr>
            <p:ph type="title"/>
          </p:nvPr>
        </p:nvSpPr>
        <p:spPr>
          <a:xfrm>
            <a:off x="660400" y="805213"/>
            <a:ext cx="8968792" cy="830997"/>
          </a:xfrm>
        </p:spPr>
        <p:txBody>
          <a:bodyPr>
            <a:normAutofit fontScale="90000"/>
          </a:bodyPr>
          <a:lstStyle/>
          <a:p>
            <a:r>
              <a:rPr lang="en-US" dirty="0"/>
              <a:t>Terminal Prompt – Basic Details</a:t>
            </a:r>
            <a:endParaRPr lang="en-IN" dirty="0"/>
          </a:p>
        </p:txBody>
      </p:sp>
      <p:pic>
        <p:nvPicPr>
          <p:cNvPr id="12" name="Picture 11">
            <a:extLst>
              <a:ext uri="{FF2B5EF4-FFF2-40B4-BE49-F238E27FC236}">
                <a16:creationId xmlns:a16="http://schemas.microsoft.com/office/drawing/2014/main" id="{684B44EA-DA49-8697-854B-EA71181950FF}"/>
              </a:ext>
            </a:extLst>
          </p:cNvPr>
          <p:cNvPicPr>
            <a:picLocks noChangeAspect="1"/>
          </p:cNvPicPr>
          <p:nvPr/>
        </p:nvPicPr>
        <p:blipFill>
          <a:blip r:embed="rId2"/>
          <a:stretch>
            <a:fillRect/>
          </a:stretch>
        </p:blipFill>
        <p:spPr>
          <a:xfrm>
            <a:off x="1443587" y="1969450"/>
            <a:ext cx="9304826" cy="3711262"/>
          </a:xfrm>
          <a:prstGeom prst="rect">
            <a:avLst/>
          </a:prstGeom>
        </p:spPr>
      </p:pic>
    </p:spTree>
    <p:extLst>
      <p:ext uri="{BB962C8B-B14F-4D97-AF65-F5344CB8AC3E}">
        <p14:creationId xmlns:p14="http://schemas.microsoft.com/office/powerpoint/2010/main" val="308112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52505C-7D40-AD40-161F-83F279CE81A9}"/>
              </a:ext>
            </a:extLst>
          </p:cNvPr>
          <p:cNvSpPr>
            <a:spLocks noGrp="1"/>
          </p:cNvSpPr>
          <p:nvPr>
            <p:ph type="body" sz="quarter" idx="12"/>
          </p:nvPr>
        </p:nvSpPr>
        <p:spPr/>
        <p:txBody>
          <a:bodyPr/>
          <a:lstStyle/>
          <a:p>
            <a:endParaRPr lang="en-IN" dirty="0"/>
          </a:p>
        </p:txBody>
      </p:sp>
      <p:sp>
        <p:nvSpPr>
          <p:cNvPr id="4" name="Title 3">
            <a:extLst>
              <a:ext uri="{FF2B5EF4-FFF2-40B4-BE49-F238E27FC236}">
                <a16:creationId xmlns:a16="http://schemas.microsoft.com/office/drawing/2014/main" id="{42793146-BAD9-6E72-F8E1-DEF8121EFED1}"/>
              </a:ext>
            </a:extLst>
          </p:cNvPr>
          <p:cNvSpPr>
            <a:spLocks noGrp="1"/>
          </p:cNvSpPr>
          <p:nvPr>
            <p:ph type="title"/>
          </p:nvPr>
        </p:nvSpPr>
        <p:spPr>
          <a:xfrm>
            <a:off x="6217" y="0"/>
            <a:ext cx="9035145" cy="830997"/>
          </a:xfrm>
        </p:spPr>
        <p:txBody>
          <a:bodyPr>
            <a:normAutofit/>
          </a:bodyPr>
          <a:lstStyle/>
          <a:p>
            <a:r>
              <a:rPr lang="en-US" sz="4300" dirty="0"/>
              <a:t>Terminal Prompt – Full Details</a:t>
            </a:r>
            <a:endParaRPr lang="en-IN" sz="4300" dirty="0"/>
          </a:p>
        </p:txBody>
      </p:sp>
      <p:pic>
        <p:nvPicPr>
          <p:cNvPr id="8" name="Picture 7">
            <a:extLst>
              <a:ext uri="{FF2B5EF4-FFF2-40B4-BE49-F238E27FC236}">
                <a16:creationId xmlns:a16="http://schemas.microsoft.com/office/drawing/2014/main" id="{C19C4E41-FCDC-F541-2184-141717780358}"/>
              </a:ext>
            </a:extLst>
          </p:cNvPr>
          <p:cNvPicPr>
            <a:picLocks noChangeAspect="1"/>
          </p:cNvPicPr>
          <p:nvPr/>
        </p:nvPicPr>
        <p:blipFill>
          <a:blip r:embed="rId2"/>
          <a:stretch>
            <a:fillRect/>
          </a:stretch>
        </p:blipFill>
        <p:spPr>
          <a:xfrm>
            <a:off x="2106584" y="752966"/>
            <a:ext cx="7978831" cy="6077615"/>
          </a:xfrm>
          <a:prstGeom prst="rect">
            <a:avLst/>
          </a:prstGeom>
        </p:spPr>
      </p:pic>
    </p:spTree>
    <p:extLst>
      <p:ext uri="{BB962C8B-B14F-4D97-AF65-F5344CB8AC3E}">
        <p14:creationId xmlns:p14="http://schemas.microsoft.com/office/powerpoint/2010/main" val="254124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957B94-9A5B-657F-9C9C-4D35D9C5D93D}"/>
              </a:ext>
            </a:extLst>
          </p:cNvPr>
          <p:cNvPicPr>
            <a:picLocks noChangeAspect="1"/>
          </p:cNvPicPr>
          <p:nvPr/>
        </p:nvPicPr>
        <p:blipFill>
          <a:blip r:embed="rId2"/>
          <a:stretch>
            <a:fillRect/>
          </a:stretch>
        </p:blipFill>
        <p:spPr>
          <a:xfrm>
            <a:off x="0" y="3847151"/>
            <a:ext cx="4627984" cy="3010849"/>
          </a:xfrm>
          <a:prstGeom prst="rect">
            <a:avLst/>
          </a:prstGeom>
        </p:spPr>
      </p:pic>
      <p:pic>
        <p:nvPicPr>
          <p:cNvPr id="10" name="Picture 9">
            <a:extLst>
              <a:ext uri="{FF2B5EF4-FFF2-40B4-BE49-F238E27FC236}">
                <a16:creationId xmlns:a16="http://schemas.microsoft.com/office/drawing/2014/main" id="{09FD5BCE-E664-33BA-84B6-790FE4AF94B2}"/>
              </a:ext>
            </a:extLst>
          </p:cNvPr>
          <p:cNvPicPr>
            <a:picLocks noChangeAspect="1"/>
          </p:cNvPicPr>
          <p:nvPr/>
        </p:nvPicPr>
        <p:blipFill>
          <a:blip r:embed="rId3"/>
          <a:stretch>
            <a:fillRect/>
          </a:stretch>
        </p:blipFill>
        <p:spPr>
          <a:xfrm>
            <a:off x="0" y="926520"/>
            <a:ext cx="4867718" cy="2920631"/>
          </a:xfrm>
          <a:prstGeom prst="rect">
            <a:avLst/>
          </a:prstGeom>
        </p:spPr>
      </p:pic>
      <p:sp>
        <p:nvSpPr>
          <p:cNvPr id="14" name="TextBox 13">
            <a:extLst>
              <a:ext uri="{FF2B5EF4-FFF2-40B4-BE49-F238E27FC236}">
                <a16:creationId xmlns:a16="http://schemas.microsoft.com/office/drawing/2014/main" id="{842289B2-113F-8F7E-5A26-25DB21D15CEE}"/>
              </a:ext>
            </a:extLst>
          </p:cNvPr>
          <p:cNvSpPr txBox="1"/>
          <p:nvPr/>
        </p:nvSpPr>
        <p:spPr>
          <a:xfrm>
            <a:off x="228599" y="218634"/>
            <a:ext cx="6923315" cy="707886"/>
          </a:xfrm>
          <a:prstGeom prst="rect">
            <a:avLst/>
          </a:prstGeom>
          <a:noFill/>
        </p:spPr>
        <p:txBody>
          <a:bodyPr wrap="square">
            <a:spAutoFit/>
          </a:bodyPr>
          <a:lstStyle/>
          <a:p>
            <a:r>
              <a:rPr lang="en-GB" sz="4000" dirty="0"/>
              <a:t>Graphs generated (Visuals)</a:t>
            </a:r>
            <a:endParaRPr lang="en-IN" dirty="0"/>
          </a:p>
        </p:txBody>
      </p:sp>
      <p:pic>
        <p:nvPicPr>
          <p:cNvPr id="18" name="Picture 17">
            <a:extLst>
              <a:ext uri="{FF2B5EF4-FFF2-40B4-BE49-F238E27FC236}">
                <a16:creationId xmlns:a16="http://schemas.microsoft.com/office/drawing/2014/main" id="{602425FA-883D-7BC7-9770-4F602FF4016B}"/>
              </a:ext>
            </a:extLst>
          </p:cNvPr>
          <p:cNvPicPr>
            <a:picLocks noChangeAspect="1"/>
          </p:cNvPicPr>
          <p:nvPr/>
        </p:nvPicPr>
        <p:blipFill>
          <a:blip r:embed="rId4"/>
          <a:stretch>
            <a:fillRect/>
          </a:stretch>
        </p:blipFill>
        <p:spPr>
          <a:xfrm>
            <a:off x="5057191" y="1579206"/>
            <a:ext cx="6760807" cy="4056484"/>
          </a:xfrm>
          <a:prstGeom prst="rect">
            <a:avLst/>
          </a:prstGeom>
        </p:spPr>
      </p:pic>
    </p:spTree>
    <p:extLst>
      <p:ext uri="{BB962C8B-B14F-4D97-AF65-F5344CB8AC3E}">
        <p14:creationId xmlns:p14="http://schemas.microsoft.com/office/powerpoint/2010/main" val="973904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912401"/>
            <a:ext cx="11340000" cy="700114"/>
          </a:xfrm>
          <a:prstGeom prst="rect">
            <a:avLst/>
          </a:prstGeom>
        </p:spPr>
        <p:txBody>
          <a:bodyPr anchor="ctr">
            <a:noAutofit/>
          </a:bodyPr>
          <a:lstStyle/>
          <a:p>
            <a:pPr algn="ctr"/>
            <a:r>
              <a:rPr lang="en-US" sz="75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1723</TotalTime>
  <Words>321</Words>
  <Application>Microsoft Office PowerPoint</Application>
  <PresentationFormat>Widescreen</PresentationFormat>
  <Paragraphs>29</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AirBNB Hotel Booking Analysis</vt:lpstr>
      <vt:lpstr>Objective and Scope</vt:lpstr>
      <vt:lpstr>Project Description  I checked the AirBNB booking dataset using Python. First, I cleaned the messy data and then made some graphs. These helped me understand things like which neighborhoods and room types have more bookings, which prices are common, and what makes a listing popular. I wrote my code in VSC and made it easy for others to follow. </vt:lpstr>
      <vt:lpstr>Who are the End Users ?</vt:lpstr>
      <vt:lpstr>Technology Used</vt:lpstr>
      <vt:lpstr>Code and Snippet</vt:lpstr>
      <vt:lpstr>Results</vt:lpstr>
      <vt:lpstr>Terminal Prompt – Basic Details</vt:lpstr>
      <vt:lpstr>Terminal Prompt – Full Details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Harsh More</cp:lastModifiedBy>
  <cp:revision>76</cp:revision>
  <dcterms:created xsi:type="dcterms:W3CDTF">2021-07-11T13:13:15Z</dcterms:created>
  <dcterms:modified xsi:type="dcterms:W3CDTF">2025-10-09T14:25:49Z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